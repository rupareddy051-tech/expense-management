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pendWise" id="{F75F2257-983D-0346-A5D9-E07CD638A67C}">
          <p14:sldIdLst>
            <p14:sldId id="256"/>
            <p14:sldId id="257"/>
            <p14:sldId id="258"/>
            <p14:sldId id="259"/>
            <p14:sldId id="260"/>
            <p14:sldId id="261"/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1" d="100"/>
          <a:sy n="101" d="100"/>
        </p:scale>
        <p:origin x="144" y="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44305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SpendWise: an expense management system built on MERN for Problem Statement 49. Fill in team name and members.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real-world problem: people lose track of spending. Stress structured records, privacy and admin oversight.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Core idea and four key features. The first registered user automatically becomes admin.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Input, Processing, Algorithm, Output. The note at the bottom explains how auth ties the flow 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Only algorithms present in the code are listed: bcrypt, JWT and role checks are in the backend. Totals and filters run in the prototype UI and will move to the API.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Screenshots are from the working UI prototype running on sample data. Auth APIs are implemented in the backend; expense endpoints are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what is done, what is next and why the design scales.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F9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600200"/>
            <a:ext cx="603504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60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6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9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SpendWise  |  Expense Management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0515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accent1"/>
                </a:solidFill>
              </a:rPr>
              <a:t>HACKATHON PROJECT  |  PROBLEM STATEMENT 49</a:t>
            </a:r>
            <a:endParaRPr lang="en-US" sz="14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 err="1">
                <a:solidFill>
                  <a:schemeClr val="tx1"/>
                </a:solidFill>
              </a:rPr>
              <a:t>SpendWise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78892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chemeClr val="tx2"/>
                </a:solidFill>
              </a:rPr>
              <a:t>Expense Management built on the MERN stack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383280"/>
            <a:ext cx="5852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A secure tracker to add, view, update and manage expenses by date, category, amount and description, with role-based admin control.</a:t>
            </a:r>
            <a:endParaRPr lang="en-US" sz="1600" dirty="0"/>
          </a:p>
        </p:txBody>
      </p:sp>
      <p:sp>
        <p:nvSpPr>
          <p:cNvPr id="9" name="info-1"/>
          <p:cNvSpPr/>
          <p:nvPr/>
        </p:nvSpPr>
        <p:spPr>
          <a:xfrm>
            <a:off x="423702" y="4706444"/>
            <a:ext cx="5852160" cy="502920"/>
          </a:xfrm>
          <a:prstGeom prst="roundRect">
            <a:avLst>
              <a:gd name="adj" fmla="val 21818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47091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Problem domain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514600" y="470916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Personal and team finance management</a:t>
            </a:r>
            <a:endParaRPr lang="en-US" sz="1400" dirty="0"/>
          </a:p>
        </p:txBody>
      </p:sp>
      <p:sp>
        <p:nvSpPr>
          <p:cNvPr id="12" name="hero-panel"/>
          <p:cNvSpPr/>
          <p:nvPr/>
        </p:nvSpPr>
        <p:spPr>
          <a:xfrm>
            <a:off x="7132320" y="1600200"/>
            <a:ext cx="4519490" cy="3951838"/>
          </a:xfrm>
          <a:prstGeom prst="roundRect">
            <a:avLst>
              <a:gd name="adj" fmla="val 555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 dirty="0"/>
          </a:p>
          <a:p>
            <a:r>
              <a:rPr lang="en-US" dirty="0"/>
              <a:t> </a:t>
            </a:r>
            <a:r>
              <a:rPr lang="en-US" b="1" dirty="0">
                <a:latin typeface="Baskerville Old Face" panose="02020602080505020303" pitchFamily="18" charset="0"/>
              </a:rPr>
              <a:t>TEAM MEMBERS:</a:t>
            </a:r>
          </a:p>
          <a:p>
            <a:r>
              <a:rPr lang="en-US" b="1" dirty="0">
                <a:latin typeface="Baskerville Old Face" panose="02020602080505020303" pitchFamily="18" charset="0"/>
              </a:rPr>
              <a:t>                  </a:t>
            </a:r>
          </a:p>
          <a:p>
            <a:endParaRPr lang="en-US" b="1" dirty="0">
              <a:latin typeface="Baskerville Old Face" panose="02020602080505020303" pitchFamily="18" charset="0"/>
            </a:endParaRPr>
          </a:p>
          <a:p>
            <a:endParaRPr lang="en-US" b="1" dirty="0">
              <a:latin typeface="Baskerville Old Face" panose="02020602080505020303" pitchFamily="18" charset="0"/>
            </a:endParaRPr>
          </a:p>
          <a:p>
            <a:r>
              <a:rPr lang="en-US" b="1" dirty="0">
                <a:latin typeface="Baskerville Old Face" panose="02020602080505020303" pitchFamily="18" charset="0"/>
              </a:rPr>
              <a:t>                             G. RUTHIKA</a:t>
            </a:r>
          </a:p>
          <a:p>
            <a:endParaRPr lang="en-US" b="1" dirty="0">
              <a:latin typeface="Baskerville Old Face" panose="02020602080505020303" pitchFamily="18" charset="0"/>
            </a:endParaRPr>
          </a:p>
          <a:p>
            <a:r>
              <a:rPr lang="en-US" b="1" dirty="0">
                <a:latin typeface="Baskerville Old Face" panose="02020602080505020303" pitchFamily="18" charset="0"/>
              </a:rPr>
              <a:t>                             CH. RUPA</a:t>
            </a:r>
          </a:p>
          <a:p>
            <a:endParaRPr lang="en-US" b="1" dirty="0">
              <a:latin typeface="Baskerville Old Face" panose="02020602080505020303" pitchFamily="18" charset="0"/>
            </a:endParaRPr>
          </a:p>
          <a:p>
            <a:r>
              <a:rPr lang="en-US" b="1" dirty="0">
                <a:latin typeface="Baskerville Old Face" panose="02020602080505020303" pitchFamily="18" charset="0"/>
              </a:rPr>
              <a:t>                             D. GNANESHWARI</a:t>
            </a:r>
          </a:p>
          <a:p>
            <a:endParaRPr lang="en-US" b="1" dirty="0">
              <a:latin typeface="Baskerville Old Face" panose="02020602080505020303" pitchFamily="18" charset="0"/>
            </a:endParaRPr>
          </a:p>
          <a:p>
            <a:r>
              <a:rPr lang="en-US" b="1" dirty="0">
                <a:latin typeface="Baskerville Old Face" panose="02020602080505020303" pitchFamily="18" charset="0"/>
              </a:rPr>
              <a:t>                             M. SREEJA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The Challenge</a:t>
            </a:r>
            <a:endParaRPr lang="en-US" sz="3600" dirty="0"/>
          </a:p>
        </p:txBody>
      </p:sp>
      <p:sp>
        <p:nvSpPr>
          <p:cNvPr id="3" name="challenge-card-0"/>
          <p:cNvSpPr/>
          <p:nvPr/>
        </p:nvSpPr>
        <p:spPr>
          <a:xfrm>
            <a:off x="548640" y="1463040"/>
            <a:ext cx="3502152" cy="4206240"/>
          </a:xfrm>
          <a:prstGeom prst="roundRect">
            <a:avLst>
              <a:gd name="adj" fmla="val 3133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4" name="badge-0"/>
          <p:cNvSpPr/>
          <p:nvPr/>
        </p:nvSpPr>
        <p:spPr>
          <a:xfrm>
            <a:off x="822960" y="17373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7373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560320"/>
            <a:ext cx="29718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Spending is recorded in scattered notes, receipts or memory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Records lack a consistent structure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Hard to see where money actually goes</a:t>
            </a:r>
            <a:endParaRPr lang="en-US" sz="1800" dirty="0"/>
          </a:p>
        </p:txBody>
      </p:sp>
      <p:sp>
        <p:nvSpPr>
          <p:cNvPr id="8" name="challenge-card-1"/>
          <p:cNvSpPr/>
          <p:nvPr/>
        </p:nvSpPr>
        <p:spPr>
          <a:xfrm>
            <a:off x="4343400" y="1463040"/>
            <a:ext cx="3502152" cy="4206240"/>
          </a:xfrm>
          <a:prstGeom prst="roundRect">
            <a:avLst>
              <a:gd name="adj" fmla="val 3133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9" name="badge-1"/>
          <p:cNvSpPr/>
          <p:nvPr/>
        </p:nvSpPr>
        <p:spPr>
          <a:xfrm>
            <a:off x="4617720" y="17373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1772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257800" y="17373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2560320"/>
            <a:ext cx="29718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Poor visibility makes budgeting guesswork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Small untracked costs add up unnoticed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Shared or team spending needs oversight</a:t>
            </a:r>
            <a:endParaRPr lang="en-US" sz="1800" dirty="0"/>
          </a:p>
        </p:txBody>
      </p:sp>
      <p:sp>
        <p:nvSpPr>
          <p:cNvPr id="13" name="challenge-card-2"/>
          <p:cNvSpPr/>
          <p:nvPr/>
        </p:nvSpPr>
        <p:spPr>
          <a:xfrm>
            <a:off x="8138160" y="1463040"/>
            <a:ext cx="3502152" cy="4206240"/>
          </a:xfrm>
          <a:prstGeom prst="roundRect">
            <a:avLst>
              <a:gd name="adj" fmla="val 3133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4" name="badge-2"/>
          <p:cNvSpPr/>
          <p:nvPr/>
        </p:nvSpPr>
        <p:spPr>
          <a:xfrm>
            <a:off x="8412480" y="17373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41248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9052560" y="17373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challenges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8412480" y="2560320"/>
            <a:ext cx="29718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Capture date, category, amount and description reliably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Keep each user's data private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Give admins control without exposing users' data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Our Innovation</a:t>
            </a:r>
            <a:endParaRPr lang="en-US" sz="3600" dirty="0"/>
          </a:p>
        </p:txBody>
      </p:sp>
      <p:sp>
        <p:nvSpPr>
          <p:cNvPr id="3" name="core-idea"/>
          <p:cNvSpPr/>
          <p:nvPr/>
        </p:nvSpPr>
        <p:spPr>
          <a:xfrm>
            <a:off x="548640" y="1463040"/>
            <a:ext cx="4206240" cy="4480560"/>
          </a:xfrm>
          <a:prstGeom prst="roundRect">
            <a:avLst>
              <a:gd name="adj" fmla="val 326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7830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bg2"/>
                </a:solidFill>
              </a:rPr>
              <a:t>CORE IDEA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286000"/>
            <a:ext cx="3566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secure place to record every expense, with a clear dashboard and role-based control.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457200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i="1" dirty="0">
                <a:solidFill>
                  <a:schemeClr val="bg1"/>
                </a:solidFill>
              </a:rPr>
              <a:t>Different because it is simple, focused and secure by default.</a:t>
            </a:r>
            <a:endParaRPr lang="en-US" sz="1600" dirty="0"/>
          </a:p>
        </p:txBody>
      </p:sp>
      <p:sp>
        <p:nvSpPr>
          <p:cNvPr id="7" name="feature-0"/>
          <p:cNvSpPr/>
          <p:nvPr/>
        </p:nvSpPr>
        <p:spPr>
          <a:xfrm>
            <a:off x="5074920" y="1463040"/>
            <a:ext cx="315468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8" name="fbadge-0"/>
          <p:cNvSpPr/>
          <p:nvPr/>
        </p:nvSpPr>
        <p:spPr>
          <a:xfrm>
            <a:off x="5349240" y="17373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34924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349240" y="23774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CRUD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5349240" y="278892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Add, view, update and delete expenses</a:t>
            </a:r>
            <a:endParaRPr lang="en-US" sz="1400" dirty="0"/>
          </a:p>
        </p:txBody>
      </p:sp>
      <p:sp>
        <p:nvSpPr>
          <p:cNvPr id="12" name="feature-1"/>
          <p:cNvSpPr/>
          <p:nvPr/>
        </p:nvSpPr>
        <p:spPr>
          <a:xfrm>
            <a:off x="8412480" y="1463040"/>
            <a:ext cx="315468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3" name="fbadge-1"/>
          <p:cNvSpPr/>
          <p:nvPr/>
        </p:nvSpPr>
        <p:spPr>
          <a:xfrm>
            <a:off x="8686800" y="17373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68680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0" y="23774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 login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8686800" y="278892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Hashed passwords and JWT sessions</a:t>
            </a:r>
            <a:endParaRPr lang="en-US" sz="1400" dirty="0"/>
          </a:p>
        </p:txBody>
      </p:sp>
      <p:sp>
        <p:nvSpPr>
          <p:cNvPr id="17" name="feature-2"/>
          <p:cNvSpPr/>
          <p:nvPr/>
        </p:nvSpPr>
        <p:spPr>
          <a:xfrm>
            <a:off x="5074920" y="3794760"/>
            <a:ext cx="315468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8" name="fbadge-2"/>
          <p:cNvSpPr/>
          <p:nvPr/>
        </p:nvSpPr>
        <p:spPr>
          <a:xfrm>
            <a:off x="5349240" y="40690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34924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349240" y="47091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Role-based access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5349240" y="512064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Users see their own data; admins manage users</a:t>
            </a:r>
            <a:endParaRPr lang="en-US" sz="1400" dirty="0"/>
          </a:p>
        </p:txBody>
      </p:sp>
      <p:sp>
        <p:nvSpPr>
          <p:cNvPr id="22" name="feature-3"/>
          <p:cNvSpPr/>
          <p:nvPr/>
        </p:nvSpPr>
        <p:spPr>
          <a:xfrm>
            <a:off x="8412480" y="3794760"/>
            <a:ext cx="315468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3" name="fbadge-3"/>
          <p:cNvSpPr/>
          <p:nvPr/>
        </p:nvSpPr>
        <p:spPr>
          <a:xfrm>
            <a:off x="8686800" y="40690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68680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8686800" y="47091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dashboard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8686800" y="512064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Totals, category split and monthly trend</a:t>
            </a:r>
            <a:endParaRPr lang="en-US" sz="14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How It Works</a:t>
            </a:r>
            <a:endParaRPr lang="en-US" sz="3600" dirty="0"/>
          </a:p>
        </p:txBody>
      </p:sp>
      <p:sp>
        <p:nvSpPr>
          <p:cNvPr id="3" name="step-0"/>
          <p:cNvSpPr/>
          <p:nvPr/>
        </p:nvSpPr>
        <p:spPr>
          <a:xfrm>
            <a:off x="548640" y="1737360"/>
            <a:ext cx="2331720" cy="914400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73736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</a:t>
            </a:r>
            <a:endParaRPr lang="en-US" sz="2200" dirty="0"/>
          </a:p>
        </p:txBody>
      </p:sp>
      <p:sp>
        <p:nvSpPr>
          <p:cNvPr id="5" name="arrow-0"/>
          <p:cNvSpPr/>
          <p:nvPr/>
        </p:nvSpPr>
        <p:spPr>
          <a:xfrm>
            <a:off x="2944368" y="2011680"/>
            <a:ext cx="365760" cy="365760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step-detail-0"/>
          <p:cNvSpPr/>
          <p:nvPr/>
        </p:nvSpPr>
        <p:spPr>
          <a:xfrm>
            <a:off x="548640" y="2926080"/>
            <a:ext cx="233172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3063240"/>
            <a:ext cx="1965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User logs in, then enters an expense: title, amount, category, date, description</a:t>
            </a:r>
            <a:endParaRPr lang="en-US" sz="1500" dirty="0"/>
          </a:p>
        </p:txBody>
      </p:sp>
      <p:sp>
        <p:nvSpPr>
          <p:cNvPr id="8" name="step-1"/>
          <p:cNvSpPr/>
          <p:nvPr/>
        </p:nvSpPr>
        <p:spPr>
          <a:xfrm>
            <a:off x="3383280" y="1737360"/>
            <a:ext cx="2331720" cy="914400"/>
          </a:xfrm>
          <a:prstGeom prst="roundRect">
            <a:avLst>
              <a:gd name="adj" fmla="val 15000"/>
            </a:avLst>
          </a:prstGeom>
          <a:solidFill>
            <a:schemeClr val="accent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383280" y="173736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Processing</a:t>
            </a:r>
            <a:endParaRPr lang="en-US" sz="2200" dirty="0"/>
          </a:p>
        </p:txBody>
      </p:sp>
      <p:sp>
        <p:nvSpPr>
          <p:cNvPr id="10" name="arrow-1"/>
          <p:cNvSpPr/>
          <p:nvPr/>
        </p:nvSpPr>
        <p:spPr>
          <a:xfrm>
            <a:off x="5779008" y="2011680"/>
            <a:ext cx="365760" cy="365760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step-detail-1"/>
          <p:cNvSpPr/>
          <p:nvPr/>
        </p:nvSpPr>
        <p:spPr>
          <a:xfrm>
            <a:off x="3383280" y="2926080"/>
            <a:ext cx="233172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566160" y="3063240"/>
            <a:ext cx="1965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React validates the form; Express checks the JWT and role; Mongoose validates the schema</a:t>
            </a:r>
            <a:endParaRPr lang="en-US" sz="1500" dirty="0"/>
          </a:p>
        </p:txBody>
      </p:sp>
      <p:sp>
        <p:nvSpPr>
          <p:cNvPr id="13" name="step-2"/>
          <p:cNvSpPr/>
          <p:nvPr/>
        </p:nvSpPr>
        <p:spPr>
          <a:xfrm>
            <a:off x="6217920" y="1737360"/>
            <a:ext cx="2331720" cy="914400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17920" y="173736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Algorithm</a:t>
            </a:r>
            <a:endParaRPr lang="en-US" sz="2200" dirty="0"/>
          </a:p>
        </p:txBody>
      </p:sp>
      <p:sp>
        <p:nvSpPr>
          <p:cNvPr id="15" name="arrow-2"/>
          <p:cNvSpPr/>
          <p:nvPr/>
        </p:nvSpPr>
        <p:spPr>
          <a:xfrm>
            <a:off x="8613648" y="2011680"/>
            <a:ext cx="365760" cy="365760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6" name="step-detail-2"/>
          <p:cNvSpPr/>
          <p:nvPr/>
        </p:nvSpPr>
        <p:spPr>
          <a:xfrm>
            <a:off x="6217920" y="2926080"/>
            <a:ext cx="233172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0" y="3063240"/>
            <a:ext cx="1965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bcrypt and JWT secure access; totals and filters are computed over the user's records</a:t>
            </a:r>
            <a:endParaRPr lang="en-US" sz="1500" dirty="0"/>
          </a:p>
        </p:txBody>
      </p:sp>
      <p:sp>
        <p:nvSpPr>
          <p:cNvPr id="18" name="step-3"/>
          <p:cNvSpPr/>
          <p:nvPr/>
        </p:nvSpPr>
        <p:spPr>
          <a:xfrm>
            <a:off x="9052560" y="1737360"/>
            <a:ext cx="2331720" cy="914400"/>
          </a:xfrm>
          <a:prstGeom prst="roundRect">
            <a:avLst>
              <a:gd name="adj" fmla="val 15000"/>
            </a:avLst>
          </a:prstGeom>
          <a:solidFill>
            <a:schemeClr val="accent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052560" y="173736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</a:t>
            </a:r>
            <a:endParaRPr lang="en-US" sz="2200" dirty="0"/>
          </a:p>
        </p:txBody>
      </p:sp>
      <p:sp>
        <p:nvSpPr>
          <p:cNvPr id="20" name="step-detail-3"/>
          <p:cNvSpPr/>
          <p:nvPr/>
        </p:nvSpPr>
        <p:spPr>
          <a:xfrm>
            <a:off x="9052560" y="2926080"/>
            <a:ext cx="233172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235440" y="3063240"/>
            <a:ext cx="1965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Expense saved in MongoDB; dashboard, charts and filtered lists update</a:t>
            </a:r>
            <a:endParaRPr lang="en-US" sz="1500" dirty="0"/>
          </a:p>
        </p:txBody>
      </p:sp>
      <p:sp>
        <p:nvSpPr>
          <p:cNvPr id="22" name="flow-note"/>
          <p:cNvSpPr/>
          <p:nvPr/>
        </p:nvSpPr>
        <p:spPr>
          <a:xfrm>
            <a:off x="548640" y="5166360"/>
            <a:ext cx="11091672" cy="731520"/>
          </a:xfrm>
          <a:prstGeom prst="roundRect">
            <a:avLst>
              <a:gd name="adj" fmla="val 15000"/>
            </a:avLst>
          </a:prstGeom>
          <a:solidFill>
            <a:schemeClr val="accent6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22960" y="51663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chemeClr val="tx1"/>
                </a:solidFill>
              </a:rPr>
              <a:t>Every request after login carries a JWT, so the API always knows who is asking and what they may do.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Technology &amp; Algorithm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accent1"/>
                </a:solidFill>
              </a:rPr>
              <a:t>TECH STACK</a:t>
            </a:r>
            <a:endParaRPr lang="en-US" sz="1400" dirty="0"/>
          </a:p>
        </p:txBody>
      </p:sp>
      <p:sp>
        <p:nvSpPr>
          <p:cNvPr id="4" name="tech-0"/>
          <p:cNvSpPr/>
          <p:nvPr/>
        </p:nvSpPr>
        <p:spPr>
          <a:xfrm>
            <a:off x="548640" y="1874520"/>
            <a:ext cx="3566160" cy="676656"/>
          </a:xfrm>
          <a:prstGeom prst="roundRect">
            <a:avLst>
              <a:gd name="adj" fmla="val 16216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874520"/>
            <a:ext cx="3200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React.js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user interface</a:t>
            </a:r>
            <a:endParaRPr lang="en-US" sz="1600" dirty="0"/>
          </a:p>
        </p:txBody>
      </p:sp>
      <p:sp>
        <p:nvSpPr>
          <p:cNvPr id="6" name="tech-1"/>
          <p:cNvSpPr/>
          <p:nvPr/>
        </p:nvSpPr>
        <p:spPr>
          <a:xfrm>
            <a:off x="548640" y="2679192"/>
            <a:ext cx="3566160" cy="676656"/>
          </a:xfrm>
          <a:prstGeom prst="roundRect">
            <a:avLst>
              <a:gd name="adj" fmla="val 16216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679192"/>
            <a:ext cx="3200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Node.js + Express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REST APIs</a:t>
            </a:r>
            <a:endParaRPr lang="en-US" sz="1600" dirty="0"/>
          </a:p>
        </p:txBody>
      </p:sp>
      <p:sp>
        <p:nvSpPr>
          <p:cNvPr id="8" name="tech-2"/>
          <p:cNvSpPr/>
          <p:nvPr/>
        </p:nvSpPr>
        <p:spPr>
          <a:xfrm>
            <a:off x="548640" y="3483864"/>
            <a:ext cx="3566160" cy="676656"/>
          </a:xfrm>
          <a:prstGeom prst="roundRect">
            <a:avLst>
              <a:gd name="adj" fmla="val 16216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3483864"/>
            <a:ext cx="3200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MongoDB + Mongoose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data and schemas</a:t>
            </a:r>
            <a:endParaRPr lang="en-US" sz="1600" dirty="0"/>
          </a:p>
        </p:txBody>
      </p:sp>
      <p:sp>
        <p:nvSpPr>
          <p:cNvPr id="10" name="tech-3"/>
          <p:cNvSpPr/>
          <p:nvPr/>
        </p:nvSpPr>
        <p:spPr>
          <a:xfrm>
            <a:off x="548640" y="4288536"/>
            <a:ext cx="3566160" cy="676656"/>
          </a:xfrm>
          <a:prstGeom prst="roundRect">
            <a:avLst>
              <a:gd name="adj" fmla="val 16216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4288536"/>
            <a:ext cx="3200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JWT + bcryptjs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authentication</a:t>
            </a:r>
            <a:endParaRPr lang="en-US" sz="1600" dirty="0"/>
          </a:p>
        </p:txBody>
      </p:sp>
      <p:sp>
        <p:nvSpPr>
          <p:cNvPr id="12" name="tech-4"/>
          <p:cNvSpPr/>
          <p:nvPr/>
        </p:nvSpPr>
        <p:spPr>
          <a:xfrm>
            <a:off x="548640" y="5093208"/>
            <a:ext cx="3566160" cy="676656"/>
          </a:xfrm>
          <a:prstGeom prst="roundRect">
            <a:avLst>
              <a:gd name="adj" fmla="val 16216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5093208"/>
            <a:ext cx="3200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CORS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frontend-backend access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480560" y="14630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accent1"/>
                </a:solidFill>
              </a:rPr>
              <a:t>ALGORITHMS AND PURPOSE</a:t>
            </a:r>
            <a:endParaRPr lang="en-US" sz="1400" dirty="0"/>
          </a:p>
        </p:txBody>
      </p:sp>
      <p:graphicFrame>
        <p:nvGraphicFramePr>
          <p:cNvPr id="15" name="algorithm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80560" y="1874520"/>
          <a:ext cx="7159752" cy="406908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134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Algorithm</a:t>
                      </a:r>
                      <a:endParaRPr lang="en-US" sz="1400" dirty="0"/>
                    </a:p>
                  </a:txBody>
                  <a:tcPr marT="54864" marB="54864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Purpose</a:t>
                      </a:r>
                      <a:endParaRPr lang="en-US" sz="1400" dirty="0"/>
                    </a:p>
                  </a:txBody>
                  <a:tcPr marT="54864" marB="54864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Complexity</a:t>
                      </a:r>
                      <a:endParaRPr lang="en-US" sz="1400" dirty="0"/>
                    </a:p>
                  </a:txBody>
                  <a:tcPr marT="54864" marB="54864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bcrypt hashing (10 salt rounds)</a:t>
                      </a:r>
                      <a:endParaRPr lang="en-US" sz="1500" dirty="0"/>
                    </a:p>
                  </a:txBody>
                  <a:tcPr marT="54864" marB="54864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Store passwords as salted hashes</a:t>
                      </a:r>
                      <a:endParaRPr lang="en-US" sz="1500" dirty="0"/>
                    </a:p>
                  </a:txBody>
                  <a:tcPr marT="54864" marB="54864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Deliberately slow; cost doubles per extra round</a:t>
                      </a:r>
                      <a:endParaRPr lang="en-US" sz="1500" dirty="0"/>
                    </a:p>
                  </a:txBody>
                  <a:tcPr marT="54864" marB="54864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JWT sign and verify (7-day expiry)</a:t>
                      </a:r>
                      <a:endParaRPr lang="en-US" sz="1500" dirty="0"/>
                    </a:p>
                  </a:txBody>
                  <a:tcPr marT="54864" marB="54864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Stateless login; identify user and role</a:t>
                      </a:r>
                      <a:endParaRPr lang="en-US" sz="1500" dirty="0"/>
                    </a:p>
                  </a:txBody>
                  <a:tcPr marT="54864" marB="54864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O(1) per request</a:t>
                      </a:r>
                      <a:endParaRPr lang="en-US" sz="1500" dirty="0"/>
                    </a:p>
                  </a:txBody>
                  <a:tcPr marT="54864" marB="54864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Role check (admin or user)</a:t>
                      </a:r>
                      <a:endParaRPr lang="en-US" sz="1500" dirty="0"/>
                    </a:p>
                  </a:txBody>
                  <a:tcPr marT="54864" marB="54864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Restrict admin-only routes</a:t>
                      </a:r>
                      <a:endParaRPr lang="en-US" sz="1500" dirty="0"/>
                    </a:p>
                  </a:txBody>
                  <a:tcPr marT="54864" marB="54864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O(1)</a:t>
                      </a:r>
                      <a:endParaRPr lang="en-US" sz="1500" dirty="0"/>
                    </a:p>
                  </a:txBody>
                  <a:tcPr marT="54864" marB="54864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Category totals, search, filter</a:t>
                      </a:r>
                      <a:endParaRPr lang="en-US" sz="1500" dirty="0"/>
                    </a:p>
                  </a:txBody>
                  <a:tcPr marT="54864" marB="54864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Dashboard summary and lists</a:t>
                      </a:r>
                      <a:endParaRPr lang="en-US" sz="1500" dirty="0"/>
                    </a:p>
                  </a:txBody>
                  <a:tcPr marT="54864" marB="54864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O(n) over the user's expenses</a:t>
                      </a:r>
                      <a:endParaRPr lang="en-US" sz="1500" dirty="0"/>
                    </a:p>
                  </a:txBody>
                  <a:tcPr marT="54864" marB="54864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Unique email index</a:t>
                      </a:r>
                      <a:endParaRPr lang="en-US" sz="1500" dirty="0"/>
                    </a:p>
                  </a:txBody>
                  <a:tcPr marT="54864" marB="54864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Prevent duplicate accounts</a:t>
                      </a:r>
                      <a:endParaRPr lang="en-US" sz="1500" dirty="0"/>
                    </a:p>
                  </a:txBody>
                  <a:tcPr marT="54864" marB="54864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O(log n) index lookup</a:t>
                      </a:r>
                      <a:endParaRPr lang="en-US" sz="1500" dirty="0"/>
                    </a:p>
                  </a:txBody>
                  <a:tcPr marT="54864" marB="54864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Demo &amp; Impact</a:t>
            </a:r>
            <a:endParaRPr lang="en-US" sz="3600" dirty="0"/>
          </a:p>
        </p:txBody>
      </p:sp>
      <p:sp>
        <p:nvSpPr>
          <p:cNvPr id="3" name="shot-frame-0"/>
          <p:cNvSpPr/>
          <p:nvPr/>
        </p:nvSpPr>
        <p:spPr>
          <a:xfrm>
            <a:off x="548640" y="1371600"/>
            <a:ext cx="4023360" cy="2788920"/>
          </a:xfrm>
          <a:prstGeom prst="roundRect">
            <a:avLst>
              <a:gd name="adj" fmla="val 3279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4" name="shot-0" descr="Prototype screenshot: Dashbo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1426464"/>
            <a:ext cx="3913632" cy="24460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3895344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</a:rPr>
              <a:t>Dashboard</a:t>
            </a:r>
            <a:endParaRPr lang="en-US" sz="1200" dirty="0"/>
          </a:p>
        </p:txBody>
      </p:sp>
      <p:sp>
        <p:nvSpPr>
          <p:cNvPr id="6" name="shot-frame-1"/>
          <p:cNvSpPr/>
          <p:nvPr/>
        </p:nvSpPr>
        <p:spPr>
          <a:xfrm>
            <a:off x="4754880" y="1371600"/>
            <a:ext cx="4023360" cy="2788920"/>
          </a:xfrm>
          <a:prstGeom prst="roundRect">
            <a:avLst>
              <a:gd name="adj" fmla="val 3279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shot-1" descr="Prototype screenshot: Expenses (CRUD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9744" y="1426464"/>
            <a:ext cx="3913632" cy="24460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754880" y="3895344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</a:rPr>
              <a:t>Expenses (CRUD)</a:t>
            </a:r>
            <a:endParaRPr lang="en-US" sz="1200" dirty="0"/>
          </a:p>
        </p:txBody>
      </p:sp>
      <p:sp>
        <p:nvSpPr>
          <p:cNvPr id="9" name="io-card"/>
          <p:cNvSpPr/>
          <p:nvPr/>
        </p:nvSpPr>
        <p:spPr>
          <a:xfrm>
            <a:off x="8961120" y="1371600"/>
            <a:ext cx="2679192" cy="2788920"/>
          </a:xfrm>
          <a:prstGeom prst="roundRect">
            <a:avLst>
              <a:gd name="adj" fmla="val 4096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9144000" y="1508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SAMPLE INPUT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9144000" y="178308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Groceries, 84.50, Food, 2026-10-06</a:t>
            </a:r>
            <a:endParaRPr lang="en-US" sz="1400" dirty="0"/>
          </a:p>
        </p:txBody>
      </p:sp>
      <p:sp>
        <p:nvSpPr>
          <p:cNvPr id="12" name="io-arrow"/>
          <p:cNvSpPr/>
          <p:nvPr/>
        </p:nvSpPr>
        <p:spPr>
          <a:xfrm>
            <a:off x="10104120" y="2395728"/>
            <a:ext cx="320040" cy="320040"/>
          </a:xfrm>
          <a:prstGeom prst="down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9144000" y="2788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SAMPLE OUTPUT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9144000" y="306324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New row in the list; Food total and dashboard update</a:t>
            </a:r>
            <a:endParaRPr lang="en-US" sz="1400" dirty="0"/>
          </a:p>
        </p:txBody>
      </p:sp>
      <p:sp>
        <p:nvSpPr>
          <p:cNvPr id="15" name="impact-0"/>
          <p:cNvSpPr/>
          <p:nvPr/>
        </p:nvSpPr>
        <p:spPr>
          <a:xfrm>
            <a:off x="548640" y="4434840"/>
            <a:ext cx="3502152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822960" y="46177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Clear visibility</a:t>
            </a:r>
            <a:endParaRPr lang="en-US" sz="2000" dirty="0"/>
          </a:p>
        </p:txBody>
      </p:sp>
      <p:sp>
        <p:nvSpPr>
          <p:cNvPr id="17" name="Text 13"/>
          <p:cNvSpPr txBox="1"/>
          <p:nvPr/>
        </p:nvSpPr>
        <p:spPr>
          <a:xfrm>
            <a:off x="822960" y="51206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See spending by category and month</a:t>
            </a:r>
            <a:endParaRPr lang="en-US" sz="1600" dirty="0"/>
          </a:p>
        </p:txBody>
      </p:sp>
      <p:sp>
        <p:nvSpPr>
          <p:cNvPr id="18" name="impact-1"/>
          <p:cNvSpPr/>
          <p:nvPr/>
        </p:nvSpPr>
        <p:spPr>
          <a:xfrm>
            <a:off x="4343400" y="4434840"/>
            <a:ext cx="3502152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4617720" y="46177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Private by design</a:t>
            </a:r>
            <a:endParaRPr lang="en-US" sz="2000" dirty="0"/>
          </a:p>
        </p:txBody>
      </p:sp>
      <p:sp>
        <p:nvSpPr>
          <p:cNvPr id="20" name="Text 16"/>
          <p:cNvSpPr txBox="1"/>
          <p:nvPr/>
        </p:nvSpPr>
        <p:spPr>
          <a:xfrm>
            <a:off x="4617720" y="51206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Users see only their own records</a:t>
            </a:r>
            <a:endParaRPr lang="en-US" sz="1600" dirty="0"/>
          </a:p>
        </p:txBody>
      </p:sp>
      <p:sp>
        <p:nvSpPr>
          <p:cNvPr id="21" name="impact-2"/>
          <p:cNvSpPr/>
          <p:nvPr/>
        </p:nvSpPr>
        <p:spPr>
          <a:xfrm>
            <a:off x="8138160" y="4434840"/>
            <a:ext cx="3502152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8412480" y="46177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 oversight</a:t>
            </a:r>
            <a:endParaRPr lang="en-US" sz="2000" dirty="0"/>
          </a:p>
        </p:txBody>
      </p:sp>
      <p:sp>
        <p:nvSpPr>
          <p:cNvPr id="23" name="Text 19"/>
          <p:cNvSpPr txBox="1"/>
          <p:nvPr/>
        </p:nvSpPr>
        <p:spPr>
          <a:xfrm>
            <a:off x="8412480" y="51206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Admins manage users and roles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Vision</a:t>
            </a:r>
            <a:endParaRPr lang="en-US" sz="3600" dirty="0"/>
          </a:p>
        </p:txBody>
      </p:sp>
      <p:sp>
        <p:nvSpPr>
          <p:cNvPr id="3" name="future-card-0"/>
          <p:cNvSpPr/>
          <p:nvPr/>
        </p:nvSpPr>
        <p:spPr>
          <a:xfrm>
            <a:off x="548640" y="1463040"/>
            <a:ext cx="3502152" cy="3063240"/>
          </a:xfrm>
          <a:prstGeom prst="roundRect">
            <a:avLst>
              <a:gd name="adj" fmla="val 3582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4" name="fv-badge-0"/>
          <p:cNvSpPr/>
          <p:nvPr/>
        </p:nvSpPr>
        <p:spPr>
          <a:xfrm>
            <a:off x="822960" y="16916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6916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Achieved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423160"/>
            <a:ext cx="2971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Register and login APIs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JWT auth with 7-day expiry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Role-based access (admin, user)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Working UI prototype</a:t>
            </a:r>
            <a:endParaRPr lang="en-US" sz="1600" dirty="0"/>
          </a:p>
        </p:txBody>
      </p:sp>
      <p:sp>
        <p:nvSpPr>
          <p:cNvPr id="8" name="future-card-1"/>
          <p:cNvSpPr/>
          <p:nvPr/>
        </p:nvSpPr>
        <p:spPr>
          <a:xfrm>
            <a:off x="4343400" y="1463040"/>
            <a:ext cx="3502152" cy="3063240"/>
          </a:xfrm>
          <a:prstGeom prst="roundRect">
            <a:avLst>
              <a:gd name="adj" fmla="val 3582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9" name="fv-badge-1"/>
          <p:cNvSpPr/>
          <p:nvPr/>
        </p:nvSpPr>
        <p:spPr>
          <a:xfrm>
            <a:off x="4617720" y="16916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1772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212080" y="16916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2423160"/>
            <a:ext cx="2971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Expense CRUD REST endpoints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Connect React to the API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Move the JWT secret to an environment variable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Reports and budgets</a:t>
            </a:r>
            <a:endParaRPr lang="en-US" sz="1600" dirty="0"/>
          </a:p>
        </p:txBody>
      </p:sp>
      <p:sp>
        <p:nvSpPr>
          <p:cNvPr id="13" name="future-card-2"/>
          <p:cNvSpPr/>
          <p:nvPr/>
        </p:nvSpPr>
        <p:spPr>
          <a:xfrm>
            <a:off x="8138160" y="1463040"/>
            <a:ext cx="3502152" cy="3063240"/>
          </a:xfrm>
          <a:prstGeom prst="roundRect">
            <a:avLst>
              <a:gd name="adj" fmla="val 3582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4" name="fv-badge-2"/>
          <p:cNvSpPr/>
          <p:nvPr/>
        </p:nvSpPr>
        <p:spPr>
          <a:xfrm>
            <a:off x="8412480" y="16916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41248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9006840" y="16916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Scalability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8412480" y="2423160"/>
            <a:ext cx="2971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Stateless JWT works across multiple servers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MongoDB indexes keep lookups fast as data grows</a:t>
            </a:r>
            <a:endParaRPr lang="en-US" sz="1600" dirty="0"/>
          </a:p>
        </p:txBody>
      </p:sp>
      <p:sp>
        <p:nvSpPr>
          <p:cNvPr id="18" name="closing-band"/>
          <p:cNvSpPr/>
          <p:nvPr/>
        </p:nvSpPr>
        <p:spPr>
          <a:xfrm>
            <a:off x="548640" y="4846320"/>
            <a:ext cx="11091672" cy="1188720"/>
          </a:xfrm>
          <a:prstGeom prst="roundRect">
            <a:avLst>
              <a:gd name="adj" fmla="val 11538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933188" y="484632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400" dirty="0"/>
          </a:p>
        </p:txBody>
      </p:sp>
      <p:sp>
        <p:nvSpPr>
          <p:cNvPr id="20" name="Text 18"/>
          <p:cNvSpPr txBox="1"/>
          <p:nvPr/>
        </p:nvSpPr>
        <p:spPr>
          <a:xfrm>
            <a:off x="6583680" y="484632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arm Terracotta Minimal">
  <a:themeElements>
    <a:clrScheme name="Warm Terracotta Minimal">
      <a:dk1>
        <a:srgbClr val="1E304C"/>
      </a:dk1>
      <a:lt1>
        <a:srgbClr val="F9F8F6"/>
      </a:lt1>
      <a:dk2>
        <a:srgbClr val="5377A0"/>
      </a:dk2>
      <a:lt2>
        <a:srgbClr val="EEECE8"/>
      </a:lt2>
      <a:accent1>
        <a:srgbClr val="5377A0"/>
      </a:accent1>
      <a:accent2>
        <a:srgbClr val="97A3E0"/>
      </a:accent2>
      <a:accent3>
        <a:srgbClr val="7C7772"/>
      </a:accent3>
      <a:accent4>
        <a:srgbClr val="58A6A4"/>
      </a:accent4>
      <a:accent5>
        <a:srgbClr val="DAD6D0"/>
      </a:accent5>
      <a:accent6>
        <a:srgbClr val="E6E3DE"/>
      </a:accent6>
      <a:hlink>
        <a:srgbClr val="5377A0"/>
      </a:hlink>
      <a:folHlink>
        <a:srgbClr val="58A6A4"/>
      </a:folHlink>
    </a:clrScheme>
    <a:fontScheme name="Warm Terracotta Minima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713</Words>
  <Application>Microsoft Office PowerPoint</Application>
  <PresentationFormat>Widescreen</PresentationFormat>
  <Paragraphs>142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Baskerville Old Face</vt:lpstr>
      <vt:lpstr>Calibri</vt:lpstr>
      <vt:lpstr>Cambria</vt:lpstr>
      <vt:lpstr>Warm Terracotta Minimal</vt:lpstr>
      <vt:lpstr>SpendWise</vt:lpstr>
      <vt:lpstr>The Challenge</vt:lpstr>
      <vt:lpstr>Our Innovation</vt:lpstr>
      <vt:lpstr>How It Works</vt:lpstr>
      <vt:lpstr>Technology &amp; Algorithm</vt:lpstr>
      <vt:lpstr>Demo &amp; Impact</vt:lpstr>
      <vt:lpstr>Vision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SpendWise - Expense Management</dc:title>
  <dc:subject>PptxGenJS Presentation</dc:subject>
  <dc:creator>Hackathon Team</dc:creator>
  <cp:lastModifiedBy>HP</cp:lastModifiedBy>
  <cp:revision>2</cp:revision>
  <dcterms:created xsi:type="dcterms:W3CDTF">2026-10-10T06:00:36Z</dcterms:created>
  <dcterms:modified xsi:type="dcterms:W3CDTF">2026-10-10T06:34:10Z</dcterms:modified>
</cp:coreProperties>
</file>